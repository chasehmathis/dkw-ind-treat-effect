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258" r:id="rId3"/>
    <p:sldId id="259" r:id="rId4"/>
    <p:sldId id="260" r:id="rId5"/>
    <p:sldId id="262" r:id="rId6"/>
    <p:sldId id="261" r:id="rId7"/>
    <p:sldId id="264" r:id="rId8"/>
    <p:sldId id="266" r:id="rId9"/>
    <p:sldId id="267" r:id="rId10"/>
    <p:sldId id="268" r:id="rId11"/>
    <p:sldId id="263" r:id="rId12"/>
    <p:sldId id="269" r:id="rId13"/>
    <p:sldId id="27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8"/>
    <p:restoredTop sz="86071"/>
  </p:normalViewPr>
  <p:slideViewPr>
    <p:cSldViewPr snapToGrid="0">
      <p:cViewPr varScale="1">
        <p:scale>
          <a:sx n="81" d="100"/>
          <a:sy n="81" d="100"/>
        </p:scale>
        <p:origin x="14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21F08D-F7C5-9E8C-D733-E26542EB1E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AF510-B094-B121-4ECD-AEAEC431788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FD9757-4B1A-0E4F-89E3-8F5F12898BA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386E4D-012B-813C-231A-32D3D7FD8AE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61C1C1-AF8F-98B7-0CB9-FAC9EF57859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8EE53C-49CA-8349-AD45-AC98A67B6A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11264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4CEB37-F9F0-454B-AC5E-47C8AC4823F6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AA6449-B4E2-C645-848C-3000998139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6243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AA6449-B4E2-C645-848C-30009981394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4856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animations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AA6449-B4E2-C645-848C-30009981394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5103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D5B3B-488A-6C39-D926-81ADCE0B49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161C78-0FE9-9107-EEDD-A961C4C06B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CEC1D-3180-AEAB-E718-28D579F0F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35C2D-25BC-6348-9FCD-01C420686923}" type="datetime1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F6690C-2045-4AB8-E7A8-7C0FFBECD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57471C-B29B-444D-62C5-49FAB7D8B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2067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4F8CA-923F-9A69-5F1F-7DA467DBE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867DDE-B92D-AC9C-2A2E-5FB5C33D8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A0DF24-CDF3-CEAA-7DD9-EDAAD2617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8CF829-0FC5-9A46-A9B0-BB904E9F57AA}" type="datetime1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36C2F-3823-9627-B6BD-F864C7394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9102E-DB0A-4B92-ADF0-3DF688651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66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D045F-4B6E-DD03-20D7-D0CC1389D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076A37-C025-CB50-F691-E5DB882EDC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28F36-6B76-A58E-16CE-C26EA815D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5A3AB-9979-134F-8518-C53AF5C431E4}" type="datetime1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332CD2-B850-2101-777A-BD2CAFA5C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FC876C-42C7-9935-242E-CA9F2792D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4228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6ED23-82B4-AB6E-F9A6-25FC71A8D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795E7E-1A42-604B-AE23-A1C83494CF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A157AE-0079-1246-FC48-649CF8B140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31944-1377-7764-222E-DAEDE0694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A39C1-72D3-C444-A5B2-5721424EE3C4}" type="datetime1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D5D579-A1F2-B6EA-4EA4-16F3F12D2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D24002-E0E0-62A0-89BE-6A2AA0251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681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69F41-DBF4-57FF-DBBC-6D245402D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79C00B-0325-0D5E-945F-223306C72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D89CE-1D29-8F0D-505C-CD7A3B6917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85D7BC-3325-70F8-3F20-39E5E8F6C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4FB660-9F4E-6856-486F-AD007B8F6A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76999C-BC34-02B6-0C17-F61047CB9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9ADD5-AD5F-2B44-9B64-69B53A301C41}" type="datetime1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19ADDC-A915-41E0-1972-3E1D56EA4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E49A4C-442B-8715-1B4D-ACE24B421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239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CCB2E-F28B-38EC-B1E3-1944702FF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B62079-931C-7C16-512F-B2FBA016F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8CC3C2-47D6-C545-9BF9-9C67612E3DE8}" type="datetime1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EC7719-AC81-ACE5-B5F9-E4B1CBED4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750F7-C4A9-C1BA-1ED5-8C5D2751C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911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1918CF-1CC2-44E3-0C40-383762FE3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36773-7117-C745-8694-71B5BEF890AE}" type="datetime1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3B85F1-3706-6957-B3C5-859B0C0F28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370DCB-23D6-DF0B-4D66-8B27A66C0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43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C956A-B6F2-1E00-707A-EFEBD059A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19352-B4C8-B0F3-3066-85D2D19C77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64EFA1-14DE-2F08-3593-1CEAA2C05A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226998-CAB9-A7C5-6A69-538BC5048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E4088-1C49-4D48-B368-FB1D6A0DDE0B}" type="datetime1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9F35B7-CC2E-661D-34F8-61DDD9736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8B656E-0F26-72DC-920B-8463C0DF6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620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B0631-D8E6-C538-470B-16ABCFF0C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AA4277-54D0-2C4E-8888-DEEA38C3D1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7CD15B-F2A0-6DAD-93ED-8F60E4FF8B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BCD568-03CC-C8FF-77B2-B13C92D10D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077C39-9F95-5C41-B456-EE66E3D13203}" type="datetime1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6EA9F-EA02-B600-5D7C-EC03DDBF5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F701F4-645A-06E8-5DFA-AA9720E3B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519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2FB8F-38B9-5579-4EBA-D7D487B1A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8F68F3-14FD-2DB0-C41B-43A1FA2377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3AAA93-F34B-2B47-12FB-B8C79F856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F351FB-B12E-264E-A1F2-9008F389C6D7}" type="datetime1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2F767C-E15F-B01D-E090-35E9E53FC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9BEAE2-8F92-486B-DC87-CBD52E52D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083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1D9420-D5C4-4BCC-7B30-FB55879955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3AD144-286C-8E73-A0D6-96EE570CC1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16FA08-5DE9-1F52-BA42-3A56A213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045A88-7A71-6B4A-BAD6-4D43FC141478}" type="datetime1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29B22C-3283-6256-E828-FF2427458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B1EC2E-05AD-FC16-9270-67162918A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058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3ED78F-330F-CE5E-3A51-50155BCB2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D5A403-3519-94C9-6B40-287E9DEC79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5F22C-D781-D429-C9F5-1CB1F29615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C78E8C-1719-0A42-B5DF-249DDC5C22D3}" type="datetime1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AC01D2-2505-8E55-7368-AADF8912BF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3208F0-F601-B243-E115-B1A62483F0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021C99-F081-FD4B-9146-F8976D51EC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746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C3061-6DA7-B0CB-3366-93C85D383C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Finite Sample Inference of Individual Treatment Effects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7EBCDC-CCE0-CCB9-52D6-DFE6E2EDCA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Chase Mathis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813EA1-3993-7F73-6D4B-0C85EB926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0D1CD4-0C79-806B-9B48-27FBA90E2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4917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27A3B-37BA-00D3-F17A-44381482A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Averages: Treatment Heterogeneity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F8F8BB-751C-E61A-46A3-939E78E03D3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1825625"/>
                <a:ext cx="10163176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often work with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–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“The linearity of the mean functional is in fact a gigantic step”</a:t>
                </a:r>
                <a:r>
                  <a:rPr lang="en-US" baseline="30000" dirty="0"/>
                  <a:t>1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]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–</m:t>
                          </m:r>
                          <m:r>
                            <m:rPr>
                              <m:sty m:val="p"/>
                            </m:rP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E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Expected value (averages) come with disadvantages.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F8F8BB-751C-E61A-46A3-939E78E03D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1825625"/>
                <a:ext cx="10163176" cy="4351338"/>
              </a:xfrm>
              <a:blipFill>
                <a:blip r:embed="rId2"/>
                <a:stretch>
                  <a:fillRect l="-1122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041CD-122B-9929-8E69-3787FCD0D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 Myoung-jae Lee (1999). Median treatment effect in randomized trials.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3F9CB8-134E-3ED4-DFA6-EF3E33FB4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369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DFBF7-A692-1EC8-7205-95F886CA1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Everyone Benefits But Not On Average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Content Placeholder 5">
                <a:extLst>
                  <a:ext uri="{FF2B5EF4-FFF2-40B4-BE49-F238E27FC236}">
                    <a16:creationId xmlns:a16="http://schemas.microsoft.com/office/drawing/2014/main" id="{9C3EFB2A-DD1F-726A-E860-E7F26549CB4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988702154"/>
                  </p:ext>
                </p:extLst>
              </p:nvPr>
            </p:nvGraphicFramePr>
            <p:xfrm>
              <a:off x="838199" y="1685515"/>
              <a:ext cx="11077575" cy="260349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234">
                      <a:extLst>
                        <a:ext uri="{9D8B030D-6E8A-4147-A177-3AD203B41FA5}">
                          <a16:colId xmlns:a16="http://schemas.microsoft.com/office/drawing/2014/main" val="191740655"/>
                        </a:ext>
                      </a:extLst>
                    </a:gridCol>
                    <a:gridCol w="1942253">
                      <a:extLst>
                        <a:ext uri="{9D8B030D-6E8A-4147-A177-3AD203B41FA5}">
                          <a16:colId xmlns:a16="http://schemas.microsoft.com/office/drawing/2014/main" val="3598971456"/>
                        </a:ext>
                      </a:extLst>
                    </a:gridCol>
                    <a:gridCol w="3818667">
                      <a:extLst>
                        <a:ext uri="{9D8B030D-6E8A-4147-A177-3AD203B41FA5}">
                          <a16:colId xmlns:a16="http://schemas.microsoft.com/office/drawing/2014/main" val="208397520"/>
                        </a:ext>
                      </a:extLst>
                    </a:gridCol>
                    <a:gridCol w="2831081">
                      <a:extLst>
                        <a:ext uri="{9D8B030D-6E8A-4147-A177-3AD203B41FA5}">
                          <a16:colId xmlns:a16="http://schemas.microsoft.com/office/drawing/2014/main" val="1960270943"/>
                        </a:ext>
                      </a:extLst>
                    </a:gridCol>
                    <a:gridCol w="1558340">
                      <a:extLst>
                        <a:ext uri="{9D8B030D-6E8A-4147-A177-3AD203B41FA5}">
                          <a16:colId xmlns:a16="http://schemas.microsoft.com/office/drawing/2014/main" val="3921827867"/>
                        </a:ext>
                      </a:extLst>
                    </a:gridCol>
                  </a:tblGrid>
                  <a:tr h="66810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Unit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Treatment</a:t>
                          </a:r>
                          <a:r>
                            <a:rPr lang="en-US" baseline="0" dirty="0"/>
                            <a:t>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i="1" baseline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baseline="0" dirty="0" smtClean="0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i="1" baseline="0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Control Outcome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Treated Outcome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Observed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89696527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21886197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0208771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48578453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77476271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30048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Content Placeholder 5">
                <a:extLst>
                  <a:ext uri="{FF2B5EF4-FFF2-40B4-BE49-F238E27FC236}">
                    <a16:creationId xmlns:a16="http://schemas.microsoft.com/office/drawing/2014/main" id="{9C3EFB2A-DD1F-726A-E860-E7F26549CB4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988702154"/>
                  </p:ext>
                </p:extLst>
              </p:nvPr>
            </p:nvGraphicFramePr>
            <p:xfrm>
              <a:off x="838199" y="1685515"/>
              <a:ext cx="11077575" cy="260349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234">
                      <a:extLst>
                        <a:ext uri="{9D8B030D-6E8A-4147-A177-3AD203B41FA5}">
                          <a16:colId xmlns:a16="http://schemas.microsoft.com/office/drawing/2014/main" val="191740655"/>
                        </a:ext>
                      </a:extLst>
                    </a:gridCol>
                    <a:gridCol w="1942253">
                      <a:extLst>
                        <a:ext uri="{9D8B030D-6E8A-4147-A177-3AD203B41FA5}">
                          <a16:colId xmlns:a16="http://schemas.microsoft.com/office/drawing/2014/main" val="3598971456"/>
                        </a:ext>
                      </a:extLst>
                    </a:gridCol>
                    <a:gridCol w="3818667">
                      <a:extLst>
                        <a:ext uri="{9D8B030D-6E8A-4147-A177-3AD203B41FA5}">
                          <a16:colId xmlns:a16="http://schemas.microsoft.com/office/drawing/2014/main" val="208397520"/>
                        </a:ext>
                      </a:extLst>
                    </a:gridCol>
                    <a:gridCol w="2831081">
                      <a:extLst>
                        <a:ext uri="{9D8B030D-6E8A-4147-A177-3AD203B41FA5}">
                          <a16:colId xmlns:a16="http://schemas.microsoft.com/office/drawing/2014/main" val="1960270943"/>
                        </a:ext>
                      </a:extLst>
                    </a:gridCol>
                    <a:gridCol w="1558340">
                      <a:extLst>
                        <a:ext uri="{9D8B030D-6E8A-4147-A177-3AD203B41FA5}">
                          <a16:colId xmlns:a16="http://schemas.microsoft.com/office/drawing/2014/main" val="3921827867"/>
                        </a:ext>
                      </a:extLst>
                    </a:gridCol>
                  </a:tblGrid>
                  <a:tr h="66810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Unit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7712" t="-3774" r="-424837" b="-3018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74834" t="-3774" r="-115232" b="-3018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36771" t="-3774" r="-56054" b="-3018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610569" t="-3774" r="-1626" b="-30188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89696527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7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21886197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0208771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48578453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77476271"/>
                      </a:ext>
                    </a:extLst>
                  </a:tr>
                  <a:tr h="387078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830048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EBA29C-A51D-3668-C82D-30A441C54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5EEE0AC-0A9B-FE66-6C7A-4AD249BA97B3}"/>
                  </a:ext>
                </a:extLst>
              </p:cNvPr>
              <p:cNvSpPr txBox="1"/>
              <p:nvPr/>
            </p:nvSpPr>
            <p:spPr>
              <a:xfrm>
                <a:off x="585787" y="4429123"/>
                <a:ext cx="6491288" cy="9105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acc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d>
                        <m:d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5+6+2</m:t>
                          </m:r>
                        </m:e>
                      </m:d>
                      <m:r>
                        <a:rPr lang="en-US" sz="2800" i="1" dirty="0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 dirty="0" smtClean="0">
                              <a:latin typeface="Cambria Math" panose="02040503050406030204" pitchFamily="18" charset="0"/>
                            </a:rPr>
                            <m:t>3+9</m:t>
                          </m:r>
                        </m:e>
                      </m:d>
                      <m:r>
                        <a:rPr lang="en-US" sz="2800" b="0" i="1" dirty="0" smtClean="0">
                          <a:latin typeface="Cambria Math" panose="02040503050406030204" pitchFamily="18" charset="0"/>
                        </a:rPr>
                        <m:t> = −</m:t>
                      </m:r>
                      <m:f>
                        <m:fPr>
                          <m:ctrlP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5EEE0AC-0A9B-FE66-6C7A-4AD249BA97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787" y="4429123"/>
                <a:ext cx="6491288" cy="910570"/>
              </a:xfrm>
              <a:prstGeom prst="rect">
                <a:avLst/>
              </a:prstGeom>
              <a:blipFill>
                <a:blip r:embed="rId3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E79BC49-E015-7A5B-512E-2E376C2D8A4E}"/>
                  </a:ext>
                </a:extLst>
              </p:cNvPr>
              <p:cNvSpPr txBox="1"/>
              <p:nvPr/>
            </p:nvSpPr>
            <p:spPr>
              <a:xfrm>
                <a:off x="7077075" y="4649265"/>
                <a:ext cx="511492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dirty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800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&gt;0∀</m:t>
                    </m:r>
                    <m:r>
                      <a:rPr lang="en-US" sz="2800" i="1" dirty="0" err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E79BC49-E015-7A5B-512E-2E376C2D8A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7075" y="4649265"/>
                <a:ext cx="5114925" cy="523220"/>
              </a:xfrm>
              <a:prstGeom prst="rect">
                <a:avLst/>
              </a:prstGeom>
              <a:blipFill>
                <a:blip r:embed="rId4"/>
                <a:stretch>
                  <a:fillRect l="-2475" t="-14286" b="-30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814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D4D9A-F0FC-D95F-8B79-99304C29A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Individual Treatment Effects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D95CDC-4FA0-EDC2-3480-6235F5BA79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Let’s work with the individual treatment effects (ITE):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 err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–</m:t>
                      </m:r>
                      <m:sSub>
                        <m:sSubPr>
                          <m:ctrlPr>
                            <a:rPr lang="en-US" i="1" dirty="0" err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More specifically, we’re going to work with the distribution: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m:rPr>
                              <m:lit/>
                            </m:rPr>
                            <a:rPr lang="en-US" i="1" dirty="0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sSub>
                            <m:sSubPr>
                              <m:ctrlPr>
                                <a:rPr lang="en-US" i="1" dirty="0" err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i="1" dirty="0" err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m:rPr>
                          <m:lit/>
                        </m:rPr>
                        <a:rPr lang="en-US" i="1" dirty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Problem: These ITE are not identifiable, meaning we cannot know what they are from the observed data.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D95CDC-4FA0-EDC2-3480-6235F5BA79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779" b="-43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3EC4C2-77BE-EB7C-5D7A-D0F227F7B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165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143D5-30DC-F7E3-9634-8B0060622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Partial Identification</a:t>
            </a:r>
          </a:p>
        </p:txBody>
      </p:sp>
      <p:pic>
        <p:nvPicPr>
          <p:cNvPr id="8" name="Content Placeholder 7" descr="A graph of a number of individuals&#10;&#10;AI-generated content may be incorrect.">
            <a:extLst>
              <a:ext uri="{FF2B5EF4-FFF2-40B4-BE49-F238E27FC236}">
                <a16:creationId xmlns:a16="http://schemas.microsoft.com/office/drawing/2014/main" id="{E462F5D7-1731-62E9-5D9E-2921F03099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9259"/>
          <a:stretch>
            <a:fillRect/>
          </a:stretch>
        </p:blipFill>
        <p:spPr>
          <a:xfrm>
            <a:off x="6095999" y="1678898"/>
            <a:ext cx="4621967" cy="4194017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6E91AF-5FAE-47EF-4F90-FA15981A0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621967" cy="3811588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While we do not know exactly what G(t) is, it cannot be anything.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We will work toward getting to the figure on the right.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Black band is the true distribution G(t).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Red and Blue bands are simultaneous confidence bands for this curve G(t)f.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01F755-E6EE-56B6-2CF6-440F109B2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0056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C33C1-051E-7C72-1037-749CACCD1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Assumptions For Our 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358DCD-D762-77A0-4B51-732D1A6D8A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SUTVA Assumption</a:t>
                </a:r>
              </a:p>
              <a:p>
                <a:pPr marL="0" indent="0">
                  <a:buNone/>
                </a:pPr>
                <a:r>
                  <a:rPr lang="en-US" dirty="0"/>
                  <a:t>a.) Consistency</a:t>
                </a:r>
              </a:p>
              <a:p>
                <a:pPr marL="0" indent="0">
                  <a:buNone/>
                </a:pPr>
                <a:r>
                  <a:rPr lang="en-US" dirty="0"/>
                  <a:t>b.) No Interference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Independence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⊥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Bounded potential outcomes (does not impact efficiency):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dirty="0" err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err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i="1" dirty="0" err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e>
                          </m:d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 &lt; ∞.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7358DCD-D762-77A0-4B51-732D1A6D8A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FF18B6-53DB-8FAB-528A-3FCAF0583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3615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52107-678B-2262-6C93-4BEE4A995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62262"/>
            <a:ext cx="10515600" cy="1133475"/>
          </a:xfrm>
        </p:spPr>
        <p:txBody>
          <a:bodyPr/>
          <a:lstStyle/>
          <a:p>
            <a:r>
              <a:rPr lang="en-US" dirty="0"/>
              <a:t>Related Work &amp; Previous Efforts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14D73D-1176-E5B8-515C-22DD6CF6D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860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B2B80-89FA-5170-18BA-D12862FAF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Randomization Inference </a:t>
            </a:r>
            <a:br>
              <a:rPr lang="en-US" dirty="0"/>
            </a:br>
            <a:r>
              <a:rPr lang="en-US" dirty="0"/>
              <a:t>(Xinran Li’s Neyman Talk)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DE55F9-BADC-12D8-5220-7A005A7DCF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Use randomization inference</a:t>
            </a:r>
          </a:p>
          <a:p>
            <a:r>
              <a:rPr lang="en-US" dirty="0"/>
              <a:t>Constructive and worst case</a:t>
            </a:r>
          </a:p>
          <a:p>
            <a:r>
              <a:rPr lang="en-US" dirty="0"/>
              <a:t>Many tuning steps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B1CB5-D38E-C2FA-9AAE-8AEE6A927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Myoung-jae Lee (1999). Median treatment effect in randomized trials.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B0454E-8593-C590-2E4B-EA8F14AA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8</a:t>
            </a:fld>
            <a:endParaRPr lang="en-US"/>
          </a:p>
        </p:txBody>
      </p:sp>
      <p:pic>
        <p:nvPicPr>
          <p:cNvPr id="7" name="Picture 6" descr="A graph of a number of levels&#10;&#10;AI-generated content may be incorrect.">
            <a:extLst>
              <a:ext uri="{FF2B5EF4-FFF2-40B4-BE49-F238E27FC236}">
                <a16:creationId xmlns:a16="http://schemas.microsoft.com/office/drawing/2014/main" id="{C2EDC7F9-3659-D169-BA05-EEEBDF00B07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103" t="8046" r="8945"/>
          <a:stretch>
            <a:fillRect/>
          </a:stretch>
        </p:blipFill>
        <p:spPr>
          <a:xfrm>
            <a:off x="659567" y="1948721"/>
            <a:ext cx="4482059" cy="422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1655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8DDE0-8261-BA0F-6AE2-BCB6BCA48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Economics</a:t>
            </a:r>
          </a:p>
        </p:txBody>
      </p:sp>
      <p:pic>
        <p:nvPicPr>
          <p:cNvPr id="8" name="Content Placeholder 7" descr="A graph of a function&#10;&#10;AI-generated content may be incorrect.">
            <a:extLst>
              <a:ext uri="{FF2B5EF4-FFF2-40B4-BE49-F238E27FC236}">
                <a16:creationId xmlns:a16="http://schemas.microsoft.com/office/drawing/2014/main" id="{E3775E89-A455-296E-384B-543CA5EBDE1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065375"/>
            <a:ext cx="5181600" cy="3871838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AE03AC-F3FB-4BF9-5182-BF6925623D2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 err="1"/>
              <a:t>Yanqin</a:t>
            </a:r>
            <a:r>
              <a:rPr lang="en-US" dirty="0"/>
              <a:t> Park &amp; Sang Soo Park</a:t>
            </a:r>
          </a:p>
          <a:p>
            <a:r>
              <a:rPr lang="en-US" dirty="0"/>
              <a:t>Focus on </a:t>
            </a:r>
            <a:r>
              <a:rPr lang="en-US" dirty="0" err="1"/>
              <a:t>asymptotics</a:t>
            </a:r>
            <a:r>
              <a:rPr lang="en-US" dirty="0"/>
              <a:t> and parametric assumptions</a:t>
            </a:r>
          </a:p>
          <a:p>
            <a:r>
              <a:rPr lang="en-US" dirty="0"/>
              <a:t>No current finite sample, distribution free, analogues.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404068-0DA6-63EF-7A44-21925AA8C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2508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5C53D-EFA1-4E16-6509-C012C8B57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 Average Treatment Effect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EC9D93-9709-F144-96CE-A20D5F1FF8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182938"/>
            <a:ext cx="5181600" cy="30130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 err="1"/>
              <a:t>Metalearner</a:t>
            </a:r>
            <a:r>
              <a:rPr lang="en-US" dirty="0"/>
              <a:t> </a:t>
            </a:r>
          </a:p>
          <a:p>
            <a:r>
              <a:rPr lang="en-US" dirty="0"/>
              <a:t>S-learner [Hill 2011, Green-Kern 2012]</a:t>
            </a:r>
          </a:p>
          <a:p>
            <a:r>
              <a:rPr lang="en-US" dirty="0"/>
              <a:t>T-learner</a:t>
            </a:r>
          </a:p>
          <a:p>
            <a:r>
              <a:rPr lang="en-US" dirty="0"/>
              <a:t>X-learner</a:t>
            </a:r>
          </a:p>
          <a:p>
            <a:r>
              <a:rPr lang="en-US" dirty="0"/>
              <a:t>R-learner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B2A12C-3845-0393-0B56-FF86DAB034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2" y="3182938"/>
            <a:ext cx="5181600" cy="14605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Tree-based methods</a:t>
            </a:r>
          </a:p>
          <a:p>
            <a:r>
              <a:rPr lang="en-US" dirty="0"/>
              <a:t>Causal tree</a:t>
            </a:r>
          </a:p>
          <a:p>
            <a:r>
              <a:rPr lang="en-US" dirty="0"/>
              <a:t>Causal Forest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D7A08-5D6D-AF27-37EE-BACF1CBDE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10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E98AE1-51DF-A9B1-0F07-FA7B743251EA}"/>
                  </a:ext>
                </a:extLst>
              </p:cNvPr>
              <p:cNvSpPr txBox="1"/>
              <p:nvPr/>
            </p:nvSpPr>
            <p:spPr>
              <a:xfrm>
                <a:off x="852488" y="1343026"/>
                <a:ext cx="86582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“Estimate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acc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from samples, use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acc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to identify subgroups” – Bin Yu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2E98AE1-51DF-A9B1-0F07-FA7B74325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488" y="1343026"/>
                <a:ext cx="8658225" cy="369332"/>
              </a:xfrm>
              <a:prstGeom prst="rect">
                <a:avLst/>
              </a:prstGeom>
              <a:blipFill>
                <a:blip r:embed="rId2"/>
                <a:stretch>
                  <a:fillRect l="-733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276822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F0619-7D68-2FC3-4F5A-652B0D3F2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Dvoretky</a:t>
            </a:r>
            <a:r>
              <a:rPr lang="en-US" dirty="0"/>
              <a:t>-Kiefer-Wolfowitz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9FCCA7-269A-8104-0368-B38DFD41C5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major workhorse for this work.</a:t>
                </a:r>
              </a:p>
              <a:p>
                <a:pPr marL="0" indent="0">
                  <a:buNone/>
                </a:pPr>
                <a:r>
                  <a:rPr lang="en-US" dirty="0"/>
                  <a:t>We want a simultaneous interval of the distribution function.</a:t>
                </a:r>
              </a:p>
              <a:p>
                <a:pPr marL="0" indent="0">
                  <a:buNone/>
                </a:pPr>
                <a:r>
                  <a:rPr lang="en-US" dirty="0"/>
                  <a:t>For empirical distribution function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m:rPr>
                            <m:lit/>
                          </m:rPr>
                          <a:rPr lang="en-US" b="0" i="1" dirty="0" smtClean="0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m:rPr>
                            <m:lit/>
                          </m:rPr>
                          <a:rPr lang="en-US" b="0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nary>
                  </m:oMath>
                </a14:m>
                <a:r>
                  <a:rPr lang="en-US" dirty="0"/>
                  <a:t>,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dirty="0" err="1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func>
                            <m:func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 dirty="0">
                                      <a:latin typeface="Cambria Math" panose="02040503050406030204" pitchFamily="18" charset="0"/>
                                    </a:rPr>
                                    <m:t>sup</m:t>
                                  </m:r>
                                </m:e>
                                <m:lim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</m:acc>
                                  <m:d>
                                    <m:dPr>
                                      <m:ctrlP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  <m:d>
                                    <m:dPr>
                                      <m:ctrlP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e>
                              </m:d>
                            </m:e>
                          </m:fun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</m:func>
                      <m:r>
                        <a:rPr lang="en-US" i="1" dirty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m:rPr>
                          <m:sty m:val="p"/>
                        </m:rPr>
                        <a:rPr lang="en-US" b="0" i="1" dirty="0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(−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𝑐𝑛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09FCCA7-269A-8104-0368-B38DFD41C5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3BF20F-84C0-99E7-A1A5-3CFE24345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6236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42D9F-9F73-E725-D1DB-AE5FA4142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Makarov Bounds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6188A1-E347-47A1-8F9C-2DDF4A9D7E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We don’t know the distribution function of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i="1" dirty="0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lit/>
                          </m:rPr>
                          <a:rPr lang="en-US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, but it cannot be anything. </a:t>
                </a:r>
              </a:p>
              <a:p>
                <a:pPr marL="0" indent="0">
                  <a:buNone/>
                </a:pPr>
                <a:r>
                  <a:rPr lang="en-US" dirty="0"/>
                  <a:t>Consider the distribution functions of the two potential outcomes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d>
                          <m:d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</m:sup>
                    </m:sSub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1" dirty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m:rPr>
                            <m:lit/>
                          </m:rPr>
                          <a:rPr lang="en-US" b="0" i="1" dirty="0" smtClean="0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m:rPr>
                            <m:lit/>
                          </m:rPr>
                          <a:rPr lang="en-US" b="0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e>
                    </m:nary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r>
                  <a:rPr lang="en-US" dirty="0"/>
                  <a:t>Call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0" dirty="0" smtClean="0">
                          <a:latin typeface="Cambria Math" panose="02040503050406030204" pitchFamily="18" charset="0"/>
                        </a:rPr>
                        <m:t>Δ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i="1" dirty="0" err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d>
                            <m:d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–</m:t>
                      </m:r>
                      <m:sSubSup>
                        <m:sSubSupPr>
                          <m:ctrlPr>
                            <a:rPr lang="en-US" i="1" dirty="0" err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 dirty="0" err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d>
                            <m:d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sup>
                      </m:sSubSup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then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 dirty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 dirty="0">
                                      <a:latin typeface="Cambria Math" panose="02040503050406030204" pitchFamily="18" charset="0"/>
                                    </a:rPr>
                                    <m:t>sup</m:t>
                                  </m:r>
                                </m:e>
                                <m:lim>
                                  <m:r>
                                    <a:rPr lang="en-US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lim>
                              </m:limLow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∨0,</m:t>
                          </m:r>
                          <m:func>
                            <m:func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 dirty="0" err="1">
                                      <a:latin typeface="Cambria Math" panose="02040503050406030204" pitchFamily="18" charset="0"/>
                                    </a:rPr>
                                    <m:t>inf</m:t>
                                  </m:r>
                                </m:e>
                                <m:lim>
                                  <m:r>
                                    <a:rPr lang="en-US" i="1" dirty="0" err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lim>
                              </m:limLow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+1∧1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6188A1-E347-47A1-8F9C-2DDF4A9D7E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C63849-FB6C-AE2E-9E48-A48664207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2733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EDD69-67D9-9266-4598-07607F8A4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Intuition of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02912-4675-A4AA-0E2E-A5B9E14F1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we knew the marginal distribution function, we could partially identify the treatment effect distribution.</a:t>
            </a:r>
          </a:p>
          <a:p>
            <a:pPr marL="0" indent="0">
              <a:buNone/>
            </a:pPr>
            <a:r>
              <a:rPr lang="en-US" dirty="0"/>
              <a:t>We don’t know the marginal distribution functions exactly.</a:t>
            </a:r>
          </a:p>
          <a:p>
            <a:pPr marL="0" indent="0">
              <a:buNone/>
            </a:pPr>
            <a:r>
              <a:rPr lang="en-US" dirty="0"/>
              <a:t>But we can estimate them with observables.</a:t>
            </a:r>
          </a:p>
          <a:p>
            <a:pPr marL="0" indent="0">
              <a:buNone/>
            </a:pPr>
            <a:r>
              <a:rPr lang="en-US" dirty="0"/>
              <a:t>So, estimate the distribution function with observables, create a uniformly valid confidence interval. </a:t>
            </a:r>
          </a:p>
          <a:p>
            <a:pPr marL="0" indent="0">
              <a:buNone/>
            </a:pPr>
            <a:r>
              <a:rPr lang="en-US" dirty="0"/>
              <a:t>Deduce that if the true marginal distributions are in this band, then the treatment effect distribution is in the constrained step from before.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1C2E76-156E-E5A5-9E00-C565F5B58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021C99-F081-FD4B-9146-F8976D51EC2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2123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578</Words>
  <Application>Microsoft Macintosh PowerPoint</Application>
  <PresentationFormat>Widescreen</PresentationFormat>
  <Paragraphs>122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Cambria Math</vt:lpstr>
      <vt:lpstr>Office Theme</vt:lpstr>
      <vt:lpstr>Finite Sample Inference of Individual Treatment Effects</vt:lpstr>
      <vt:lpstr>Beyond Averages: Treatment Heterogeneity</vt:lpstr>
      <vt:lpstr>Everyone Benefits But Not On Average</vt:lpstr>
      <vt:lpstr>Individual Treatment Effects</vt:lpstr>
      <vt:lpstr>Partial Identification</vt:lpstr>
      <vt:lpstr>Assumptions For Our Work</vt:lpstr>
      <vt:lpstr>Related Work &amp; Previous Efforts</vt:lpstr>
      <vt:lpstr>Randomization Inference  (Xinran Li’s Neyman Talk)</vt:lpstr>
      <vt:lpstr>Economics</vt:lpstr>
      <vt:lpstr>Conditional Average Treatment Effect</vt:lpstr>
      <vt:lpstr>Dvoretky-Kiefer-Wolfowitz Inequality</vt:lpstr>
      <vt:lpstr>Makarov Bounds</vt:lpstr>
      <vt:lpstr>Intuition of Method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Chase Mathis</dc:creator>
  <cp:lastModifiedBy>Chase Mathis</cp:lastModifiedBy>
  <cp:revision>23</cp:revision>
  <dcterms:created xsi:type="dcterms:W3CDTF">2025-11-17T20:40:11Z</dcterms:created>
  <dcterms:modified xsi:type="dcterms:W3CDTF">2025-11-24T15:18:41Z</dcterms:modified>
</cp:coreProperties>
</file>