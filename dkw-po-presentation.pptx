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732"/>
  </p:normalViewPr>
  <p:slideViewPr>
    <p:cSldViewPr snapToGrid="0">
      <p:cViewPr varScale="1">
        <p:scale>
          <a:sx n="90" d="100"/>
          <a:sy n="90" d="100"/>
        </p:scale>
        <p:origin x="1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21F08D-F7C5-9E8C-D733-E26542EB1E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AF510-B094-B121-4ECD-AEAEC43178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D9757-4B1A-0E4F-89E3-8F5F12898BA4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386E4D-012B-813C-231A-32D3D7FD8A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61C1C1-AF8F-98B7-0CB9-FAC9EF57859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EE53C-49CA-8349-AD45-AC98A67B6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1264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4CEB37-F9F0-454B-AC5E-47C8AC4823F6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AA6449-B4E2-C645-848C-3000998139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6243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D5B3B-488A-6C39-D926-81ADCE0B4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161C78-0FE9-9107-EEDD-A961C4C06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CEC1D-3180-AEAB-E718-28D579F0F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35C2D-25BC-6348-9FCD-01C420686923}" type="datetime1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6690C-2045-4AB8-E7A8-7C0FFBEC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57471C-B29B-444D-62C5-49FAB7D8B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06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F8CA-923F-9A69-5F1F-7DA467DBE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67DDE-B92D-AC9C-2A2E-5FB5C33D8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0DF24-CDF3-CEAA-7DD9-EDAAD2617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CF829-0FC5-9A46-A9B0-BB904E9F57AA}" type="datetime1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36C2F-3823-9627-B6BD-F864C7394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9102E-DB0A-4B92-ADF0-3DF688651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66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D045F-4B6E-DD03-20D7-D0CC1389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76A37-C025-CB50-F691-E5DB882ED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28F36-6B76-A58E-16CE-C26EA815D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5A3AB-9979-134F-8518-C53AF5C431E4}" type="datetime1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32CD2-B850-2101-777A-BD2CAFA5C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FC876C-42C7-9935-242E-CA9F2792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22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6ED23-82B4-AB6E-F9A6-25FC71A8D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95E7E-1A42-604B-AE23-A1C83494C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157AE-0079-1246-FC48-649CF8B140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1944-1377-7764-222E-DAEDE0694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A39C1-72D3-C444-A5B2-5721424EE3C4}" type="datetime1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5D579-A1F2-B6EA-4EA4-16F3F12D2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24002-E0E0-62A0-89BE-6A2AA0251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68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9F41-DBF4-57FF-DBBC-6D245402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C00B-0325-0D5E-945F-223306C72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D89CE-1D29-8F0D-505C-CD7A3B691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85D7BC-3325-70F8-3F20-39E5E8F6C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4FB660-9F4E-6856-486F-AD007B8F6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6999C-BC34-02B6-0C17-F61047CB9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9ADD5-AD5F-2B44-9B64-69B53A301C41}" type="datetime1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9ADDC-A915-41E0-1972-3E1D56EA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E49A4C-442B-8715-1B4D-ACE24B421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23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CCB2E-F28B-38EC-B1E3-1944702F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B62079-931C-7C16-512F-B2FBA016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CC3C2-47D6-C545-9BF9-9C67612E3DE8}" type="datetime1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C7719-AC81-ACE5-B5F9-E4B1CBED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750F7-C4A9-C1BA-1ED5-8C5D2751C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911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1918CF-1CC2-44E3-0C40-383762FE3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36773-7117-C745-8694-71B5BEF890AE}" type="datetime1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3B85F1-3706-6957-B3C5-859B0C0F2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70DCB-23D6-DF0B-4D66-8B27A66C0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4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956A-B6F2-1E00-707A-EFEBD059A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19352-B4C8-B0F3-3066-85D2D19C7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4EFA1-14DE-2F08-3593-1CEAA2C0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26998-CAB9-A7C5-6A69-538BC5048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E4088-1C49-4D48-B368-FB1D6A0DDE0B}" type="datetime1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9F35B7-CC2E-661D-34F8-61DDD9736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B656E-0F26-72DC-920B-8463C0DF6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620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B0631-D8E6-C538-470B-16ABCFF0C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AA4277-54D0-2C4E-8888-DEEA38C3D1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7CD15B-F2A0-6DAD-93ED-8F60E4FF8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BCD568-03CC-C8FF-77B2-B13C92D10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77C39-9F95-5C41-B456-EE66E3D13203}" type="datetime1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6EA9F-EA02-B600-5D7C-EC03DDBF5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701F4-645A-06E8-5DFA-AA9720E3B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519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FB8F-38B9-5579-4EBA-D7D487B1A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8F68F3-14FD-2DB0-C41B-43A1FA237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AAA93-F34B-2B47-12FB-B8C79F856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F351FB-B12E-264E-A1F2-9008F389C6D7}" type="datetime1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F767C-E15F-B01D-E090-35E9E53FC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BEAE2-8F92-486B-DC87-CBD52E52D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83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1D9420-D5C4-4BCC-7B30-FB55879955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3AD144-286C-8E73-A0D6-96EE570CC1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16FA08-5DE9-1F52-BA42-3A56A213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45A88-7A71-6B4A-BAD6-4D43FC141478}" type="datetime1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9B22C-3283-6256-E828-FF2427458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B1EC2E-05AD-FC16-9270-67162918A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58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3ED78F-330F-CE5E-3A51-50155BCB2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D5A403-3519-94C9-6B40-287E9DEC7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5F22C-D781-D429-C9F5-1CB1F29615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78E8C-1719-0A42-B5DF-249DDC5C22D3}" type="datetime1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AC01D2-2505-8E55-7368-AADF8912B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208F0-F601-B243-E115-B1A62483F0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46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C3061-6DA7-B0CB-3366-93C85D383C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Finite Sample Inference of Individual Treatment Effects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7EBCDC-CCE0-CCB9-52D6-DFE6E2EDCA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Chase Mathis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813EA1-3993-7F73-6D4B-0C85EB926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0D1CD4-0C79-806B-9B48-27FBA90E2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49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7A3B-37BA-00D3-F17A-44381482A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Averages: Treatment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F8F8BB-751C-E61A-46A3-939E78E03D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5"/>
                <a:ext cx="10163176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often work with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“The linearity of the mean functional is in fact a gigantic step”</a:t>
                </a:r>
                <a:r>
                  <a:rPr lang="en-US" baseline="30000" dirty="0"/>
                  <a:t>1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Expected value (averages) come with disadvantages.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F8F8BB-751C-E61A-46A3-939E78E03D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5"/>
                <a:ext cx="10163176" cy="4351338"/>
              </a:xfrm>
              <a:blipFill>
                <a:blip r:embed="rId2"/>
                <a:stretch>
                  <a:fillRect l="-11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041CD-122B-9929-8E69-3787FCD0D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 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F9CB8-134E-3ED4-DFA6-EF3E33FB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36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DFBF7-A692-1EC8-7205-95F886CA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Everyone Benefits But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9C3EFB2A-DD1F-726A-E860-E7F26549CB4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88702154"/>
                  </p:ext>
                </p:extLst>
              </p:nvPr>
            </p:nvGraphicFramePr>
            <p:xfrm>
              <a:off x="838199" y="1685515"/>
              <a:ext cx="11077575" cy="26034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234">
                      <a:extLst>
                        <a:ext uri="{9D8B030D-6E8A-4147-A177-3AD203B41FA5}">
                          <a16:colId xmlns:a16="http://schemas.microsoft.com/office/drawing/2014/main" val="191740655"/>
                        </a:ext>
                      </a:extLst>
                    </a:gridCol>
                    <a:gridCol w="1942253">
                      <a:extLst>
                        <a:ext uri="{9D8B030D-6E8A-4147-A177-3AD203B41FA5}">
                          <a16:colId xmlns:a16="http://schemas.microsoft.com/office/drawing/2014/main" val="3598971456"/>
                        </a:ext>
                      </a:extLst>
                    </a:gridCol>
                    <a:gridCol w="3818667">
                      <a:extLst>
                        <a:ext uri="{9D8B030D-6E8A-4147-A177-3AD203B41FA5}">
                          <a16:colId xmlns:a16="http://schemas.microsoft.com/office/drawing/2014/main" val="208397520"/>
                        </a:ext>
                      </a:extLst>
                    </a:gridCol>
                    <a:gridCol w="2831081">
                      <a:extLst>
                        <a:ext uri="{9D8B030D-6E8A-4147-A177-3AD203B41FA5}">
                          <a16:colId xmlns:a16="http://schemas.microsoft.com/office/drawing/2014/main" val="1960270943"/>
                        </a:ext>
                      </a:extLst>
                    </a:gridCol>
                    <a:gridCol w="1558340">
                      <a:extLst>
                        <a:ext uri="{9D8B030D-6E8A-4147-A177-3AD203B41FA5}">
                          <a16:colId xmlns:a16="http://schemas.microsoft.com/office/drawing/2014/main" val="3921827867"/>
                        </a:ext>
                      </a:extLst>
                    </a:gridCol>
                  </a:tblGrid>
                  <a:tr h="66810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Treatment</a:t>
                          </a:r>
                          <a:r>
                            <a:rPr lang="en-US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Control Outcome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Treated Outcome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Observed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969652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188619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02087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8578453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774762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30048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9C3EFB2A-DD1F-726A-E860-E7F26549CB4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88702154"/>
                  </p:ext>
                </p:extLst>
              </p:nvPr>
            </p:nvGraphicFramePr>
            <p:xfrm>
              <a:off x="838199" y="1685515"/>
              <a:ext cx="11077575" cy="26034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234">
                      <a:extLst>
                        <a:ext uri="{9D8B030D-6E8A-4147-A177-3AD203B41FA5}">
                          <a16:colId xmlns:a16="http://schemas.microsoft.com/office/drawing/2014/main" val="191740655"/>
                        </a:ext>
                      </a:extLst>
                    </a:gridCol>
                    <a:gridCol w="1942253">
                      <a:extLst>
                        <a:ext uri="{9D8B030D-6E8A-4147-A177-3AD203B41FA5}">
                          <a16:colId xmlns:a16="http://schemas.microsoft.com/office/drawing/2014/main" val="3598971456"/>
                        </a:ext>
                      </a:extLst>
                    </a:gridCol>
                    <a:gridCol w="3818667">
                      <a:extLst>
                        <a:ext uri="{9D8B030D-6E8A-4147-A177-3AD203B41FA5}">
                          <a16:colId xmlns:a16="http://schemas.microsoft.com/office/drawing/2014/main" val="208397520"/>
                        </a:ext>
                      </a:extLst>
                    </a:gridCol>
                    <a:gridCol w="2831081">
                      <a:extLst>
                        <a:ext uri="{9D8B030D-6E8A-4147-A177-3AD203B41FA5}">
                          <a16:colId xmlns:a16="http://schemas.microsoft.com/office/drawing/2014/main" val="1960270943"/>
                        </a:ext>
                      </a:extLst>
                    </a:gridCol>
                    <a:gridCol w="1558340">
                      <a:extLst>
                        <a:ext uri="{9D8B030D-6E8A-4147-A177-3AD203B41FA5}">
                          <a16:colId xmlns:a16="http://schemas.microsoft.com/office/drawing/2014/main" val="3921827867"/>
                        </a:ext>
                      </a:extLst>
                    </a:gridCol>
                  </a:tblGrid>
                  <a:tr h="66810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7712" t="-3774" r="-424837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4834" t="-3774" r="-115232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36771" t="-3774" r="-56054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10569" t="-3774" r="-1626" b="-3018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69652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188619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02087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8578453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774762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30048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BA29C-A51D-3668-C82D-30A441C54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EEE0AC-0A9B-FE66-6C7A-4AD249BA97B3}"/>
                  </a:ext>
                </a:extLst>
              </p:cNvPr>
              <p:cNvSpPr txBox="1"/>
              <p:nvPr/>
            </p:nvSpPr>
            <p:spPr>
              <a:xfrm>
                <a:off x="585787" y="4429123"/>
                <a:ext cx="6491288" cy="9105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acc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d>
                        <m:d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5+6+2</m:t>
                          </m:r>
                        </m:e>
                      </m:d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3+9</m:t>
                          </m:r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EEE0AC-0A9B-FE66-6C7A-4AD249BA9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787" y="4429123"/>
                <a:ext cx="6491288" cy="910570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79BC49-E015-7A5B-512E-2E376C2D8A4E}"/>
                  </a:ext>
                </a:extLst>
              </p:cNvPr>
              <p:cNvSpPr txBox="1"/>
              <p:nvPr/>
            </p:nvSpPr>
            <p:spPr>
              <a:xfrm>
                <a:off x="7077075" y="4649265"/>
                <a:ext cx="511492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80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&gt;0∀</m:t>
                    </m:r>
                    <m:r>
                      <a:rPr lang="en-US" sz="2800" i="1" dirty="0" err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79BC49-E015-7A5B-512E-2E376C2D8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7075" y="4649265"/>
                <a:ext cx="5114925" cy="523220"/>
              </a:xfrm>
              <a:prstGeom prst="rect">
                <a:avLst/>
              </a:prstGeom>
              <a:blipFill>
                <a:blip r:embed="rId4"/>
                <a:stretch>
                  <a:fillRect l="-2475" t="-14286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1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D4D9A-F0FC-D95F-8B79-99304C29A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Individual Treatment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D95CDC-4FA0-EDC2-3480-6235F5BA7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Let’s work with the individual treatment effects: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–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These statistical objects are not identifiable, meaning we cannot know what they are from </a:t>
                </a:r>
                <a:r>
                  <a:rPr lang="en-US"/>
                  <a:t>the observed data.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D95CDC-4FA0-EDC2-3480-6235F5BA7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4002B-6ED2-D7F6-3F0C-3E5DEC588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EC4C2-77BE-EB7C-5D7A-D0F227F7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165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191</Words>
  <Application>Microsoft Macintosh PowerPoint</Application>
  <PresentationFormat>Widescreen</PresentationFormat>
  <Paragraphs>53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Finite Sample Inference of Individual Treatment Effects</vt:lpstr>
      <vt:lpstr>Beyond Averages: Treatment Heterogeneity</vt:lpstr>
      <vt:lpstr>Everyone Benefits But Not On Average</vt:lpstr>
      <vt:lpstr>Individual Treatment Effects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Chase Mathis</dc:creator>
  <cp:lastModifiedBy>Chase Mathis</cp:lastModifiedBy>
  <cp:revision>5</cp:revision>
  <dcterms:created xsi:type="dcterms:W3CDTF">2025-11-17T20:40:11Z</dcterms:created>
  <dcterms:modified xsi:type="dcterms:W3CDTF">2025-11-20T22:20:57Z</dcterms:modified>
</cp:coreProperties>
</file>